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7" r:id="rId12"/>
    <p:sldId id="344"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17418" y="3583914"/>
            <a:ext cx="5583382" cy="861497"/>
          </a:xfrm>
        </p:spPr>
        <p:txBody>
          <a:bodyPr vert="horz" lIns="91440" tIns="45720" rIns="91440" bIns="45720" rtlCol="0" anchor="t">
            <a:normAutofit fontScale="85000" lnSpcReduction="10000"/>
          </a:bodyPr>
          <a:lstStyle/>
          <a:p>
            <a:r>
              <a:rPr lang="en-US" b="0" dirty="0">
                <a:solidFill>
                  <a:schemeClr val="tx1"/>
                </a:solidFill>
              </a:rPr>
              <a:t>Student Name : Bhakthi Acharya B T </a:t>
            </a:r>
            <a:endParaRPr lang="en-IN" b="0" dirty="0">
              <a:solidFill>
                <a:schemeClr val="tx1"/>
              </a:solidFill>
            </a:endParaRPr>
          </a:p>
          <a:p>
            <a:r>
              <a:rPr lang="en-US" b="0" dirty="0">
                <a:solidFill>
                  <a:schemeClr val="tx1"/>
                </a:solidFill>
              </a:rPr>
              <a:t>College Name- Srinivas University ,Mukka ,Mangalore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003491"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6260518" cy="369332"/>
          </a:xfrm>
          <a:prstGeom prst="rect">
            <a:avLst/>
          </a:prstGeom>
          <a:noFill/>
        </p:spPr>
        <p:txBody>
          <a:bodyPr wrap="square" rtlCol="0">
            <a:spAutoFit/>
          </a:bodyPr>
          <a:lstStyle/>
          <a:p>
            <a:r>
              <a:rPr lang="en-US" b="1" dirty="0"/>
              <a:t>AICTE STU ID : </a:t>
            </a:r>
            <a:r>
              <a:rPr lang="en-IN" b="1" dirty="0"/>
              <a:t>STU6a5e536de96731784566637</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83660" y="1447539"/>
            <a:ext cx="8112868" cy="5024381"/>
          </a:xfrm>
        </p:spPr>
        <p:txBody>
          <a:bodyPr vert="horz" lIns="91440" tIns="45720" rIns="91440" bIns="45720" rtlCol="0" anchor="t">
            <a:noAutofit/>
          </a:bodyPr>
          <a:lstStyle/>
          <a:p>
            <a:pPr marL="0" indent="0">
              <a:lnSpc>
                <a:spcPct val="100000"/>
              </a:lnSpc>
              <a:buNone/>
            </a:pPr>
            <a:r>
              <a:rPr lang="en-US" sz="2400"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400"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5AD38CB0-1125-C541-073F-FB12072B9D82}"/>
              </a:ext>
            </a:extLst>
          </p:cNvPr>
          <p:cNvSpPr txBox="1"/>
          <p:nvPr/>
        </p:nvSpPr>
        <p:spPr>
          <a:xfrm>
            <a:off x="675957" y="2101174"/>
            <a:ext cx="7874656" cy="4431983"/>
          </a:xfrm>
          <a:prstGeom prst="rect">
            <a:avLst/>
          </a:prstGeom>
          <a:noFill/>
        </p:spPr>
        <p:txBody>
          <a:bodyPr wrap="square" rtlCol="0">
            <a:spAutoFit/>
          </a:bodyPr>
          <a:lstStyle/>
          <a:p>
            <a:r>
              <a:rPr lang="en-IN" sz="2400" dirty="0"/>
              <a:t>Seasonal Agriculture Performance Analysis</a:t>
            </a:r>
          </a:p>
          <a:p>
            <a:r>
              <a:rPr lang="en-IN" sz="2400" dirty="0"/>
              <a:t>Analysed agricultural production data to evaluate crop performance across different seasons, regions, and years. Used Python, Pandas, NumPy, Matplotlib, and Seaborn for data cleaning, exploratory data analysis, statistical analysis, and visualization. Identified seasonal production trends, high-performing crops and regions, and key factors affecting agricultural performance. Generated evidence-based insights and business recommendations to support better crop planning and resource allocation.</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8" y="1788160"/>
            <a:ext cx="11267441" cy="4998720"/>
          </a:xfrm>
        </p:spPr>
        <p:txBody>
          <a:bodyPr>
            <a:normAutofit/>
          </a:bodyPr>
          <a:lstStyle/>
          <a:p>
            <a:pPr lvl="0"/>
            <a:r>
              <a:rPr lang="en-IN" sz="2400" dirty="0">
                <a:solidFill>
                  <a:schemeClr val="tx1"/>
                </a:solidFill>
              </a:rPr>
              <a:t>👨‍🌾 </a:t>
            </a:r>
            <a:r>
              <a:rPr lang="en-IN" sz="2400" b="1" dirty="0">
                <a:solidFill>
                  <a:schemeClr val="tx1"/>
                </a:solidFill>
              </a:rPr>
              <a:t>Farmers</a:t>
            </a:r>
            <a:r>
              <a:rPr lang="en-IN" sz="2400" dirty="0">
                <a:solidFill>
                  <a:schemeClr val="tx1"/>
                </a:solidFill>
              </a:rPr>
              <a:t> – to decide which crops to grow and when. </a:t>
            </a:r>
          </a:p>
          <a:p>
            <a:pPr lvl="0"/>
            <a:r>
              <a:rPr lang="en-IN" sz="2400" dirty="0">
                <a:solidFill>
                  <a:schemeClr val="tx1"/>
                </a:solidFill>
              </a:rPr>
              <a:t>🏛️ </a:t>
            </a:r>
            <a:r>
              <a:rPr lang="en-IN" sz="2400" b="1" dirty="0">
                <a:solidFill>
                  <a:schemeClr val="tx1"/>
                </a:solidFill>
              </a:rPr>
              <a:t>Agricultural Government Departments</a:t>
            </a:r>
            <a:r>
              <a:rPr lang="en-IN" sz="2400" dirty="0">
                <a:solidFill>
                  <a:schemeClr val="tx1"/>
                </a:solidFill>
              </a:rPr>
              <a:t> – to plan agricultural policies and support programs. </a:t>
            </a:r>
          </a:p>
          <a:p>
            <a:pPr lvl="0"/>
            <a:r>
              <a:rPr lang="en-IN" sz="2400" dirty="0">
                <a:solidFill>
                  <a:schemeClr val="tx1"/>
                </a:solidFill>
              </a:rPr>
              <a:t>🌾 </a:t>
            </a:r>
            <a:r>
              <a:rPr lang="en-IN" sz="2400" b="1" dirty="0">
                <a:solidFill>
                  <a:schemeClr val="tx1"/>
                </a:solidFill>
              </a:rPr>
              <a:t>Agricultural Planners</a:t>
            </a:r>
            <a:r>
              <a:rPr lang="en-IN" sz="2400" dirty="0">
                <a:solidFill>
                  <a:schemeClr val="tx1"/>
                </a:solidFill>
              </a:rPr>
              <a:t> – to analyse seasonal crop performance and production trends. </a:t>
            </a:r>
          </a:p>
          <a:p>
            <a:pPr lvl="0"/>
            <a:r>
              <a:rPr lang="en-IN" sz="2400" dirty="0">
                <a:solidFill>
                  <a:schemeClr val="tx1"/>
                </a:solidFill>
              </a:rPr>
              <a:t>💰 </a:t>
            </a:r>
            <a:r>
              <a:rPr lang="en-IN" sz="2400" b="1" dirty="0">
                <a:solidFill>
                  <a:schemeClr val="tx1"/>
                </a:solidFill>
              </a:rPr>
              <a:t>Agricultural Businesses</a:t>
            </a:r>
            <a:r>
              <a:rPr lang="en-IN" sz="2400" dirty="0">
                <a:solidFill>
                  <a:schemeClr val="tx1"/>
                </a:solidFill>
              </a:rPr>
              <a:t> – to plan procurement, supply, and resource allocation. </a:t>
            </a:r>
          </a:p>
          <a:p>
            <a:pPr lvl="0"/>
            <a:r>
              <a:rPr lang="en-IN" sz="2400" dirty="0">
                <a:solidFill>
                  <a:schemeClr val="tx1"/>
                </a:solidFill>
              </a:rPr>
              <a:t>🔬 </a:t>
            </a:r>
            <a:r>
              <a:rPr lang="en-IN" sz="2400" b="1" dirty="0">
                <a:solidFill>
                  <a:schemeClr val="tx1"/>
                </a:solidFill>
              </a:rPr>
              <a:t>Agricultural Researchers</a:t>
            </a:r>
            <a:r>
              <a:rPr lang="en-IN" sz="2400" dirty="0">
                <a:solidFill>
                  <a:schemeClr val="tx1"/>
                </a:solidFill>
              </a:rPr>
              <a:t> – to study crop and seasonal patterns. </a:t>
            </a:r>
          </a:p>
          <a:p>
            <a:pPr lvl="0"/>
            <a:r>
              <a:rPr lang="en-IN" sz="2400" dirty="0">
                <a:solidFill>
                  <a:schemeClr val="tx1"/>
                </a:solidFill>
              </a:rPr>
              <a:t>🏦 </a:t>
            </a:r>
            <a:r>
              <a:rPr lang="en-IN" sz="2400" b="1" dirty="0">
                <a:solidFill>
                  <a:schemeClr val="tx1"/>
                </a:solidFill>
              </a:rPr>
              <a:t>Financial Institutions</a:t>
            </a:r>
            <a:r>
              <a:rPr lang="en-IN" sz="2400" dirty="0">
                <a:solidFill>
                  <a:schemeClr val="tx1"/>
                </a:solidFill>
              </a:rPr>
              <a:t> – to assess agricultural trends when planning loans or financial support.</a:t>
            </a:r>
          </a:p>
          <a:p>
            <a:pPr algn="just">
              <a:lnSpc>
                <a:spcPct val="150000"/>
              </a:lnSpc>
            </a:pPr>
            <a:endParaRPr lang="en-IN" sz="2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27242" y="1432560"/>
            <a:ext cx="9192639" cy="5243448"/>
          </a:xfrm>
        </p:spPr>
        <p:txBody>
          <a:bodyPr/>
          <a:lstStyle/>
          <a:p>
            <a:pPr lvl="0"/>
            <a:r>
              <a:rPr lang="en-IN" sz="2400" dirty="0">
                <a:solidFill>
                  <a:schemeClr val="tx1"/>
                </a:solidFill>
              </a:rPr>
              <a:t>🐍 </a:t>
            </a:r>
            <a:r>
              <a:rPr lang="en-IN" sz="2400" b="1" dirty="0">
                <a:solidFill>
                  <a:schemeClr val="tx1"/>
                </a:solidFill>
              </a:rPr>
              <a:t>Python</a:t>
            </a:r>
            <a:r>
              <a:rPr lang="en-IN" sz="2400" dirty="0">
                <a:solidFill>
                  <a:schemeClr val="tx1"/>
                </a:solidFill>
              </a:rPr>
              <a:t> – Data analysis and processing </a:t>
            </a:r>
          </a:p>
          <a:p>
            <a:pPr lvl="0"/>
            <a:r>
              <a:rPr lang="en-IN" sz="2400" dirty="0">
                <a:solidFill>
                  <a:schemeClr val="tx1"/>
                </a:solidFill>
              </a:rPr>
              <a:t>🐼 </a:t>
            </a:r>
            <a:r>
              <a:rPr lang="en-IN" sz="2400" b="1" dirty="0">
                <a:solidFill>
                  <a:schemeClr val="tx1"/>
                </a:solidFill>
              </a:rPr>
              <a:t>Pandas</a:t>
            </a:r>
            <a:r>
              <a:rPr lang="en-IN" sz="2400" dirty="0">
                <a:solidFill>
                  <a:schemeClr val="tx1"/>
                </a:solidFill>
              </a:rPr>
              <a:t> – Data cleaning and manipulation </a:t>
            </a:r>
          </a:p>
          <a:p>
            <a:pPr lvl="0"/>
            <a:r>
              <a:rPr lang="en-IN" sz="2400" dirty="0">
                <a:solidFill>
                  <a:schemeClr val="tx1"/>
                </a:solidFill>
              </a:rPr>
              <a:t>🔢 </a:t>
            </a:r>
            <a:r>
              <a:rPr lang="en-IN" sz="2400" b="1" dirty="0">
                <a:solidFill>
                  <a:schemeClr val="tx1"/>
                </a:solidFill>
              </a:rPr>
              <a:t>NumPy</a:t>
            </a:r>
            <a:r>
              <a:rPr lang="en-IN" sz="2400" dirty="0">
                <a:solidFill>
                  <a:schemeClr val="tx1"/>
                </a:solidFill>
              </a:rPr>
              <a:t> – Numerical calculations </a:t>
            </a:r>
          </a:p>
          <a:p>
            <a:pPr lvl="0"/>
            <a:r>
              <a:rPr lang="en-IN" sz="2400" dirty="0">
                <a:solidFill>
                  <a:schemeClr val="tx1"/>
                </a:solidFill>
              </a:rPr>
              <a:t>📊 </a:t>
            </a:r>
            <a:r>
              <a:rPr lang="en-IN" sz="2400" b="1" dirty="0">
                <a:solidFill>
                  <a:schemeClr val="tx1"/>
                </a:solidFill>
              </a:rPr>
              <a:t>Matplotlib</a:t>
            </a:r>
            <a:r>
              <a:rPr lang="en-IN" sz="2400" dirty="0">
                <a:solidFill>
                  <a:schemeClr val="tx1"/>
                </a:solidFill>
              </a:rPr>
              <a:t> – Data visualization </a:t>
            </a:r>
          </a:p>
          <a:p>
            <a:pPr lvl="0"/>
            <a:r>
              <a:rPr lang="en-IN" sz="2400" dirty="0">
                <a:solidFill>
                  <a:schemeClr val="tx1"/>
                </a:solidFill>
              </a:rPr>
              <a:t>📈 </a:t>
            </a:r>
            <a:r>
              <a:rPr lang="en-IN" sz="2400" b="1" dirty="0">
                <a:solidFill>
                  <a:schemeClr val="tx1"/>
                </a:solidFill>
              </a:rPr>
              <a:t>Seaborn</a:t>
            </a:r>
            <a:r>
              <a:rPr lang="en-IN" sz="2400" dirty="0">
                <a:solidFill>
                  <a:schemeClr val="tx1"/>
                </a:solidFill>
              </a:rPr>
              <a:t> – Statistical visualizations </a:t>
            </a:r>
          </a:p>
          <a:p>
            <a:pPr lvl="0"/>
            <a:r>
              <a:rPr lang="en-IN" sz="2400" dirty="0">
                <a:solidFill>
                  <a:schemeClr val="tx1"/>
                </a:solidFill>
              </a:rPr>
              <a:t>☁️ </a:t>
            </a:r>
            <a:r>
              <a:rPr lang="en-IN" sz="2400" b="1" dirty="0">
                <a:solidFill>
                  <a:schemeClr val="tx1"/>
                </a:solidFill>
              </a:rPr>
              <a:t>Google </a:t>
            </a:r>
            <a:r>
              <a:rPr lang="en-IN" sz="2400" b="1" dirty="0" err="1">
                <a:solidFill>
                  <a:schemeClr val="tx1"/>
                </a:solidFill>
              </a:rPr>
              <a:t>Colab</a:t>
            </a:r>
            <a:r>
              <a:rPr lang="en-IN" sz="2400" dirty="0">
                <a:solidFill>
                  <a:schemeClr val="tx1"/>
                </a:solidFill>
              </a:rPr>
              <a:t> – Development and analysis environment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48229CE9-03B9-8DD2-F767-6ED40324ADE3}"/>
              </a:ext>
            </a:extLst>
          </p:cNvPr>
          <p:cNvSpPr txBox="1"/>
          <p:nvPr/>
        </p:nvSpPr>
        <p:spPr>
          <a:xfrm>
            <a:off x="3442870" y="601421"/>
            <a:ext cx="6770451" cy="461665"/>
          </a:xfrm>
          <a:prstGeom prst="rect">
            <a:avLst/>
          </a:prstGeom>
          <a:noFill/>
        </p:spPr>
        <p:txBody>
          <a:bodyPr wrap="square" rtlCol="0">
            <a:spAutoFit/>
          </a:bodyPr>
          <a:lstStyle/>
          <a:p>
            <a:r>
              <a:rPr lang="en-US" sz="2400" dirty="0"/>
              <a:t>Correlation Analysis</a:t>
            </a:r>
            <a:endParaRPr lang="en-IN" sz="2400" dirty="0"/>
          </a:p>
        </p:txBody>
      </p:sp>
      <p:pic>
        <p:nvPicPr>
          <p:cNvPr id="12" name="Picture 11">
            <a:extLst>
              <a:ext uri="{FF2B5EF4-FFF2-40B4-BE49-F238E27FC236}">
                <a16:creationId xmlns:a16="http://schemas.microsoft.com/office/drawing/2014/main" id="{65379890-4D1E-274B-C365-1AB012629297}"/>
              </a:ext>
            </a:extLst>
          </p:cNvPr>
          <p:cNvPicPr>
            <a:picLocks noChangeAspect="1"/>
          </p:cNvPicPr>
          <p:nvPr/>
        </p:nvPicPr>
        <p:blipFill>
          <a:blip r:embed="rId3"/>
          <a:stretch>
            <a:fillRect/>
          </a:stretch>
        </p:blipFill>
        <p:spPr>
          <a:xfrm>
            <a:off x="0" y="1293918"/>
            <a:ext cx="9698182" cy="54694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2" name="TextBox 1">
            <a:extLst>
              <a:ext uri="{FF2B5EF4-FFF2-40B4-BE49-F238E27FC236}">
                <a16:creationId xmlns:a16="http://schemas.microsoft.com/office/drawing/2014/main" id="{C2203F49-4828-DA30-31DE-669978087235}"/>
              </a:ext>
            </a:extLst>
          </p:cNvPr>
          <p:cNvSpPr txBox="1"/>
          <p:nvPr/>
        </p:nvSpPr>
        <p:spPr>
          <a:xfrm>
            <a:off x="3657600" y="535510"/>
            <a:ext cx="3175183" cy="830997"/>
          </a:xfrm>
          <a:prstGeom prst="rect">
            <a:avLst/>
          </a:prstGeom>
          <a:noFill/>
        </p:spPr>
        <p:txBody>
          <a:bodyPr wrap="square" rtlCol="0">
            <a:spAutoFit/>
          </a:bodyPr>
          <a:lstStyle/>
          <a:p>
            <a:r>
              <a:rPr lang="en-US" sz="2400" dirty="0"/>
              <a:t>Correlation Analysis</a:t>
            </a:r>
            <a:endParaRPr lang="en-IN" sz="2400" dirty="0"/>
          </a:p>
          <a:p>
            <a:endParaRPr lang="en-IN" sz="2400" dirty="0"/>
          </a:p>
        </p:txBody>
      </p:sp>
      <p:pic>
        <p:nvPicPr>
          <p:cNvPr id="6" name="Picture 5">
            <a:extLst>
              <a:ext uri="{FF2B5EF4-FFF2-40B4-BE49-F238E27FC236}">
                <a16:creationId xmlns:a16="http://schemas.microsoft.com/office/drawing/2014/main" id="{96FD5408-88C1-D048-7E0D-DEADCA531579}"/>
              </a:ext>
            </a:extLst>
          </p:cNvPr>
          <p:cNvPicPr>
            <a:picLocks noChangeAspect="1"/>
          </p:cNvPicPr>
          <p:nvPr/>
        </p:nvPicPr>
        <p:blipFill>
          <a:blip r:embed="rId3"/>
          <a:stretch>
            <a:fillRect/>
          </a:stretch>
        </p:blipFill>
        <p:spPr>
          <a:xfrm>
            <a:off x="675957" y="1330925"/>
            <a:ext cx="8143984" cy="472351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8B524-1630-38E5-702C-0FDBE38A290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2814D05-65B5-D032-2605-D9779C7575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8D01067-3737-1F8B-E70E-73B0D87C28B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96A7344-531A-C3F7-1A41-B22363F8862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1A6D58C-CA6D-30A4-CB14-B1BD7D3F092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38C7686-8A0A-D953-E355-D253D4D9EA35}"/>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2" name="TextBox 1">
            <a:extLst>
              <a:ext uri="{FF2B5EF4-FFF2-40B4-BE49-F238E27FC236}">
                <a16:creationId xmlns:a16="http://schemas.microsoft.com/office/drawing/2014/main" id="{C82D4527-B06D-0385-93AE-1C3608B59115}"/>
              </a:ext>
            </a:extLst>
          </p:cNvPr>
          <p:cNvSpPr txBox="1"/>
          <p:nvPr/>
        </p:nvSpPr>
        <p:spPr>
          <a:xfrm>
            <a:off x="3657600" y="535510"/>
            <a:ext cx="3175183" cy="461665"/>
          </a:xfrm>
          <a:prstGeom prst="rect">
            <a:avLst/>
          </a:prstGeom>
          <a:noFill/>
        </p:spPr>
        <p:txBody>
          <a:bodyPr wrap="square" rtlCol="0">
            <a:spAutoFit/>
          </a:bodyPr>
          <a:lstStyle/>
          <a:p>
            <a:r>
              <a:rPr lang="en-US" sz="2400" dirty="0"/>
              <a:t>Seasonal Comparisons</a:t>
            </a:r>
            <a:endParaRPr lang="en-IN" sz="2400" dirty="0"/>
          </a:p>
        </p:txBody>
      </p:sp>
      <p:pic>
        <p:nvPicPr>
          <p:cNvPr id="12" name="Picture 11">
            <a:extLst>
              <a:ext uri="{FF2B5EF4-FFF2-40B4-BE49-F238E27FC236}">
                <a16:creationId xmlns:a16="http://schemas.microsoft.com/office/drawing/2014/main" id="{86CF70FA-E31A-259B-C7B1-158E32BF99B8}"/>
              </a:ext>
            </a:extLst>
          </p:cNvPr>
          <p:cNvPicPr>
            <a:picLocks noChangeAspect="1"/>
          </p:cNvPicPr>
          <p:nvPr/>
        </p:nvPicPr>
        <p:blipFill>
          <a:blip r:embed="rId3"/>
          <a:stretch>
            <a:fillRect/>
          </a:stretch>
        </p:blipFill>
        <p:spPr>
          <a:xfrm>
            <a:off x="560487" y="1201586"/>
            <a:ext cx="8195585" cy="5681305"/>
          </a:xfrm>
          <a:prstGeom prst="rect">
            <a:avLst/>
          </a:prstGeom>
        </p:spPr>
      </p:pic>
    </p:spTree>
    <p:extLst>
      <p:ext uri="{BB962C8B-B14F-4D97-AF65-F5344CB8AC3E}">
        <p14:creationId xmlns:p14="http://schemas.microsoft.com/office/powerpoint/2010/main" val="1627152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275371"/>
            <a:ext cx="4275138" cy="633842"/>
          </a:xfrm>
        </p:spPr>
        <p:txBody>
          <a:bodyPr/>
          <a:lstStyle/>
          <a:p>
            <a:pPr marL="0" indent="0">
              <a:buNone/>
            </a:pPr>
            <a:r>
              <a:rPr lang="en-US" dirty="0"/>
              <a:t>Seasonal Comparisons</a:t>
            </a:r>
            <a:endParaRPr lang="en-IN" dirty="0"/>
          </a:p>
        </p:txBody>
      </p:sp>
      <p:pic>
        <p:nvPicPr>
          <p:cNvPr id="3" name="Picture 2">
            <a:extLst>
              <a:ext uri="{FF2B5EF4-FFF2-40B4-BE49-F238E27FC236}">
                <a16:creationId xmlns:a16="http://schemas.microsoft.com/office/drawing/2014/main" id="{712B7DE5-A68E-B44A-193A-44A09CF1493E}"/>
              </a:ext>
            </a:extLst>
          </p:cNvPr>
          <p:cNvPicPr>
            <a:picLocks noChangeAspect="1"/>
          </p:cNvPicPr>
          <p:nvPr/>
        </p:nvPicPr>
        <p:blipFill>
          <a:blip r:embed="rId3"/>
          <a:stretch>
            <a:fillRect/>
          </a:stretch>
        </p:blipFill>
        <p:spPr>
          <a:xfrm>
            <a:off x="675957" y="1747952"/>
            <a:ext cx="8689008" cy="473945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D3826A05-7C3B-BD28-6850-CED654801DC6}"/>
              </a:ext>
            </a:extLst>
          </p:cNvPr>
          <p:cNvSpPr txBox="1"/>
          <p:nvPr/>
        </p:nvSpPr>
        <p:spPr>
          <a:xfrm>
            <a:off x="564204" y="1381328"/>
            <a:ext cx="8375515" cy="4062651"/>
          </a:xfrm>
          <a:prstGeom prst="rect">
            <a:avLst/>
          </a:prstGeom>
          <a:noFill/>
        </p:spPr>
        <p:txBody>
          <a:bodyPr wrap="square" rtlCol="0">
            <a:spAutoFit/>
          </a:bodyPr>
          <a:lstStyle/>
          <a:p>
            <a:pPr marL="342900" lvl="0" indent="-342900">
              <a:buFont typeface="Arial" panose="020B0604020202020204" pitchFamily="34" charset="0"/>
              <a:buChar char="•"/>
            </a:pPr>
            <a:r>
              <a:rPr lang="en-IN" sz="2400" dirty="0"/>
              <a:t>🤖 </a:t>
            </a:r>
            <a:r>
              <a:rPr lang="en-IN" sz="2400" b="1" dirty="0"/>
              <a:t>Machine Learning Prediction</a:t>
            </a:r>
            <a:r>
              <a:rPr lang="en-IN" sz="2400" dirty="0"/>
              <a:t> – Predict future crop production and yield. </a:t>
            </a:r>
          </a:p>
          <a:p>
            <a:pPr marL="342900" lvl="0" indent="-342900">
              <a:buFont typeface="Arial" panose="020B0604020202020204" pitchFamily="34" charset="0"/>
              <a:buChar char="•"/>
            </a:pPr>
            <a:r>
              <a:rPr lang="en-IN" sz="2400" dirty="0"/>
              <a:t>🌦️ </a:t>
            </a:r>
            <a:r>
              <a:rPr lang="en-IN" sz="2400" b="1" dirty="0"/>
              <a:t>Weather Data Integration</a:t>
            </a:r>
            <a:r>
              <a:rPr lang="en-IN" sz="2400" dirty="0"/>
              <a:t> – Include rainfall, temperature, and other weather factors. </a:t>
            </a:r>
          </a:p>
          <a:p>
            <a:pPr marL="342900" lvl="0" indent="-342900">
              <a:buFont typeface="Arial" panose="020B0604020202020204" pitchFamily="34" charset="0"/>
              <a:buChar char="•"/>
            </a:pPr>
            <a:r>
              <a:rPr lang="en-IN" sz="2400" dirty="0"/>
              <a:t>📊 </a:t>
            </a:r>
            <a:r>
              <a:rPr lang="en-IN" sz="2400" b="1" dirty="0"/>
              <a:t>Interactive Dashboard</a:t>
            </a:r>
            <a:r>
              <a:rPr lang="en-IN" sz="2400" dirty="0"/>
              <a:t> – Develop a Power BI dashboard for real-time exploration. </a:t>
            </a:r>
          </a:p>
          <a:p>
            <a:pPr marL="342900" lvl="0" indent="-342900">
              <a:buFont typeface="Arial" panose="020B0604020202020204" pitchFamily="34" charset="0"/>
              <a:buChar char="•"/>
            </a:pPr>
            <a:r>
              <a:rPr lang="en-IN" sz="2400" dirty="0"/>
              <a:t>🌱 </a:t>
            </a:r>
            <a:r>
              <a:rPr lang="en-IN" sz="2400" b="1" dirty="0"/>
              <a:t>Crop Recommendation</a:t>
            </a:r>
            <a:r>
              <a:rPr lang="en-IN" sz="2400" dirty="0"/>
              <a:t> – Recommend suitable crops based on season and region. </a:t>
            </a:r>
          </a:p>
          <a:p>
            <a:pPr marL="342900" lvl="0" indent="-342900">
              <a:buFont typeface="Arial" panose="020B0604020202020204" pitchFamily="34" charset="0"/>
              <a:buChar char="•"/>
            </a:pPr>
            <a:r>
              <a:rPr lang="en-IN" sz="2400" dirty="0"/>
              <a:t>📱 </a:t>
            </a:r>
            <a:r>
              <a:rPr lang="en-IN" sz="2400" b="1" dirty="0"/>
              <a:t>Decision-Support System</a:t>
            </a:r>
            <a:r>
              <a:rPr lang="en-IN" sz="2400" dirty="0"/>
              <a:t> – Build a system that helps farmers make data-driven decisions. </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a:t>https://github.com/bhakthi-7/Seasonal-Agriculture-Performance-Analysis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193040"/>
            <a:ext cx="11172332" cy="1062207"/>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5C1FA6BB-414F-E9F1-4D33-7FA025DE3A97}"/>
              </a:ext>
            </a:extLst>
          </p:cNvPr>
          <p:cNvPicPr>
            <a:picLocks noChangeAspect="1"/>
          </p:cNvPicPr>
          <p:nvPr/>
        </p:nvPicPr>
        <p:blipFill>
          <a:blip r:embed="rId3"/>
          <a:stretch>
            <a:fillRect/>
          </a:stretch>
        </p:blipFill>
        <p:spPr>
          <a:xfrm>
            <a:off x="2231224" y="1275371"/>
            <a:ext cx="7729552" cy="548171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1404</TotalTime>
  <Words>432</Words>
  <Application>Microsoft Office PowerPoint</Application>
  <PresentationFormat>Widescreen</PresentationFormat>
  <Paragraphs>44</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Bhakthi Acharya B T</cp:lastModifiedBy>
  <cp:revision>102</cp:revision>
  <dcterms:created xsi:type="dcterms:W3CDTF">2021-07-11T13:13:15Z</dcterms:created>
  <dcterms:modified xsi:type="dcterms:W3CDTF">2026-09-09T13:48:56Z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